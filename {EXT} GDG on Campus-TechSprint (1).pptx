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6" r:id="rId14"/>
    <p:sldId id="267" r:id="rId15"/>
    <p:sldId id="269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d07014906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7" name="Google Shape;97;g3ad07014906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07014906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4" name="Google Shape;104;g3ad07014906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d07014906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0" name="Google Shape;110;g3ad07014906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d07014906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6" name="Google Shape;116;g3ad07014906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d07014906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2" name="Google Shape;122;g3ad07014906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07014906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8" name="Google Shape;128;g3ad07014906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d07014906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4" name="Google Shape;134;g3ad07014906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d07014906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0" name="Google Shape;140;g3ad07014906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d07014906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6" name="Google Shape;146;g3ad07014906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d07014906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2" name="Google Shape;152;g3ad07014906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d07014906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0" name="Google Shape;170;g3ad07014906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d07014906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8" name="Google Shape;158;g3ad07014906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d07014906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4" name="Google Shape;164;g3ad07014906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d07014906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5" name="Google Shape;175;g3ad07014906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qlas13/SafeClick-AI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hyperlink" Target="https://safeclick-ftmmzvm16-iqlas-projects-b67f9d28.vercel.app/" TargetMode="External"/><Relationship Id="rId4" Type="http://schemas.openxmlformats.org/officeDocument/2006/relationships/hyperlink" Target="https://drive.google.com/file/d/1Hzus_GYYDMvEz_rO25cbpmwRozYXEzhT/view?usp=drivesdk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 b="1" i="0" u="none" strike="noStrike" cap="non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sz="4000" b="1" i="0" u="none" strike="noStrike" cap="non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project (Make a copy of the template)</a:t>
            </a:r>
            <a:endParaRPr sz="150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project/ppt.</a:t>
            </a:r>
            <a:endParaRPr sz="150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ideal size of the presentation should not be more than 10 slides.</a:t>
            </a:r>
            <a:endParaRPr sz="150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sz="150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prototype of the same idea, if required.</a:t>
            </a:r>
            <a:endParaRPr sz="150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1" i="1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Solutions must include at least one Google technology.</a:t>
            </a:r>
            <a:endParaRPr sz="1500" b="1" i="1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/>
        </p:nvSpPr>
        <p:spPr>
          <a:xfrm>
            <a:off x="162600" y="3195125"/>
            <a:ext cx="8760000" cy="17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r>
              <a:rPr lang="en-GB" sz="1800" b="1" i="0" u="none" strike="noStrike" cap="none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“</a:t>
            </a:r>
            <a:r>
              <a:rPr lang="en-IN" sz="1800" b="1" dirty="0">
                <a:latin typeface="Agency FB" panose="020B0503020202020204" pitchFamily="34" charset="0"/>
              </a:rPr>
              <a:t>BCA UNDERGRAD”</a:t>
            </a:r>
            <a:endParaRPr sz="1800" b="1" i="0" u="none" strike="noStrike" cap="none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</a:t>
            </a:r>
            <a:r>
              <a:rPr lang="en-GB" sz="1800" b="1" i="0" u="none" strike="noStrike" cap="none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:  </a:t>
            </a:r>
            <a:r>
              <a:rPr lang="en-GB" sz="1800" b="1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Iqlas </a:t>
            </a:r>
            <a:r>
              <a:rPr lang="en-GB" sz="1800" b="1" dirty="0" err="1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Tharannum</a:t>
            </a:r>
            <a:endParaRPr sz="1800" b="1" i="0" u="none" strike="noStrike" cap="none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 i="0" u="none" strike="noStrike" cap="none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Online </a:t>
            </a:r>
            <a:r>
              <a:rPr lang="en-GB" sz="1800" b="1" i="0" u="none" strike="noStrike" cap="none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Scam Prevention</a:t>
            </a:r>
            <a:endParaRPr sz="1800" b="1" i="0" u="none" strike="noStrike" cap="none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6" title="Techsprint ban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9085198" cy="302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/>
        </p:nvSpPr>
        <p:spPr>
          <a:xfrm>
            <a:off x="1728787" y="806350"/>
            <a:ext cx="7299737" cy="12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3" name="Google Shape;113;p27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C70563-4001-C6B8-8A90-8A9E0B3C0BB1}"/>
              </a:ext>
            </a:extLst>
          </p:cNvPr>
          <p:cNvSpPr txBox="1"/>
          <p:nvPr/>
        </p:nvSpPr>
        <p:spPr>
          <a:xfrm>
            <a:off x="285749" y="600648"/>
            <a:ext cx="8742775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u="sng" dirty="0">
                <a:latin typeface="Felix Titling" panose="04060505060202020A04" pitchFamily="82" charset="0"/>
              </a:rPr>
              <a:t>Problem Statement: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gency FB" panose="020B0503020202020204" pitchFamily="34" charset="0"/>
              </a:rPr>
              <a:t>Users frequently receive suspicious URLs, messages, and Emails through WhatsApp, SMS, and Emails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gency FB" panose="020B0503020202020204" pitchFamily="34" charset="0"/>
              </a:rPr>
              <a:t>Non-technical users cannot easily identify phishing, scam, or fake links.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gency FB" panose="020B0503020202020204" pitchFamily="34" charset="0"/>
              </a:rPr>
              <a:t>This leads to financial fraud, account compromise, and data theft.</a:t>
            </a:r>
          </a:p>
          <a:p>
            <a:endParaRPr lang="en-IN" sz="1800" dirty="0">
              <a:latin typeface="+mn-lt"/>
            </a:endParaRPr>
          </a:p>
          <a:p>
            <a:r>
              <a:rPr lang="en-IN" sz="1600" b="1" u="sng" dirty="0">
                <a:latin typeface="Felix Titling" panose="04060505060202020A04" pitchFamily="82" charset="0"/>
              </a:rPr>
              <a:t>Our Solution </a:t>
            </a:r>
            <a:r>
              <a:rPr lang="en-IN" sz="1600" b="1" dirty="0">
                <a:latin typeface="Felix Titling" panose="04060505060202020A04" pitchFamily="82" charset="0"/>
              </a:rPr>
              <a:t>-    </a:t>
            </a:r>
            <a:r>
              <a:rPr lang="en-IN" sz="2000" b="1" dirty="0" err="1">
                <a:latin typeface="Eras Bold ITC" panose="020B0907030504020204" pitchFamily="34" charset="0"/>
              </a:rPr>
              <a:t>SafeClick_AI</a:t>
            </a:r>
            <a:endParaRPr lang="en-IN" sz="2000" b="1" dirty="0">
              <a:latin typeface="Eras Bold ITC" panose="020B0907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gency FB" panose="020B0503020202020204" pitchFamily="34" charset="0"/>
              </a:rPr>
              <a:t>SafeClick</a:t>
            </a:r>
            <a:r>
              <a:rPr lang="en-IN" sz="2000" dirty="0">
                <a:latin typeface="Agency FB" panose="020B0503020202020204" pitchFamily="34" charset="0"/>
              </a:rPr>
              <a:t>-AI is a web application that analyses URSs, Messages, and Emails for phishing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gency FB" panose="020B0503020202020204" pitchFamily="34" charset="0"/>
              </a:rPr>
              <a:t>Users paste the content into the website and receive:</a:t>
            </a:r>
          </a:p>
          <a:p>
            <a:r>
              <a:rPr lang="en-IN" sz="2000" dirty="0">
                <a:latin typeface="Agency FB" panose="020B0503020202020204" pitchFamily="34" charset="0"/>
              </a:rPr>
              <a:t>                - Risk Score(Low/Medium/High)</a:t>
            </a:r>
          </a:p>
          <a:p>
            <a:r>
              <a:rPr lang="en-IN" sz="2000" dirty="0">
                <a:latin typeface="Agency FB" panose="020B0503020202020204" pitchFamily="34" charset="0"/>
              </a:rPr>
              <a:t>                - Clear </a:t>
            </a:r>
            <a:r>
              <a:rPr lang="en-IN" sz="2000" dirty="0" err="1">
                <a:latin typeface="Agency FB" panose="020B0503020202020204" pitchFamily="34" charset="0"/>
              </a:rPr>
              <a:t>Explaination</a:t>
            </a:r>
            <a:r>
              <a:rPr lang="en-IN" sz="2000" dirty="0">
                <a:latin typeface="Agency FB" panose="020B0503020202020204" pitchFamily="34" charset="0"/>
              </a:rPr>
              <a:t> using AI</a:t>
            </a:r>
          </a:p>
          <a:p>
            <a:r>
              <a:rPr lang="en-IN" sz="2000" dirty="0">
                <a:latin typeface="Agency FB" panose="020B0503020202020204" pitchFamily="34" charset="0"/>
              </a:rPr>
              <a:t>                - Safety advise</a:t>
            </a:r>
          </a:p>
          <a:p>
            <a:endParaRPr lang="en-IN" sz="2000" dirty="0">
              <a:latin typeface="Agency FB" panose="020B0503020202020204" pitchFamily="34" charset="0"/>
            </a:endParaRPr>
          </a:p>
          <a:p>
            <a:r>
              <a:rPr lang="en-IN" sz="1600" b="1" dirty="0">
                <a:latin typeface="Google Sans"/>
              </a:rPr>
              <a:t>             “</a:t>
            </a:r>
            <a:r>
              <a:rPr lang="en-IN" sz="1800" b="1" dirty="0">
                <a:latin typeface="Google Sans"/>
              </a:rPr>
              <a:t>Our solution focuses on prevention and awareness, not just detection.”</a:t>
            </a:r>
            <a:r>
              <a:rPr lang="en-IN" sz="1600" dirty="0">
                <a:latin typeface="Google Sans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/>
        </p:nvSpPr>
        <p:spPr>
          <a:xfrm>
            <a:off x="159800" y="496362"/>
            <a:ext cx="9175063" cy="4589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800" b="1" i="0" u="sng" strike="noStrike" cap="none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Opportunities:</a:t>
            </a:r>
            <a:endParaRPr lang="en-US" sz="2800" b="1" i="0" u="sng" strike="noStrike" cap="none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marL="571500"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</a:pPr>
            <a:r>
              <a:rPr lang="en-US" sz="1800" b="1" i="0" u="none" strike="noStrike" cap="none" dirty="0">
                <a:solidFill>
                  <a:srgbClr val="434343"/>
                </a:solidFill>
                <a:latin typeface="Felix Titling" panose="04060505060202020A04" pitchFamily="82" charset="0"/>
                <a:ea typeface="Google Sans"/>
                <a:cs typeface="Google Sans"/>
                <a:sym typeface="Google Sans"/>
              </a:rPr>
              <a:t>A. How different is it from any of the other existing ideas?</a:t>
            </a:r>
          </a:p>
          <a:p>
            <a:pPr marL="857250" lvl="1" indent="-285750">
              <a:lnSpc>
                <a:spcPct val="115000"/>
              </a:lnSpc>
              <a:buClr>
                <a:srgbClr val="434343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Existing tools are technical and difficult for normal users.</a:t>
            </a:r>
          </a:p>
          <a:p>
            <a:pPr marL="857250" lvl="1" indent="-285750">
              <a:lnSpc>
                <a:spcPct val="115000"/>
              </a:lnSpc>
              <a:buClr>
                <a:srgbClr val="434343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Most tools only say “safe” or “unsafe” without explanation.</a:t>
            </a:r>
          </a:p>
          <a:p>
            <a:pPr marL="857250" lvl="1" indent="-285750">
              <a:lnSpc>
                <a:spcPct val="115000"/>
              </a:lnSpc>
              <a:buClr>
                <a:srgbClr val="434343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Our solution explains why something is risky in simple language.</a:t>
            </a:r>
          </a:p>
          <a:p>
            <a:pPr marL="571500" lvl="1">
              <a:lnSpc>
                <a:spcPct val="115000"/>
              </a:lnSpc>
              <a:buClr>
                <a:srgbClr val="434343"/>
              </a:buClr>
              <a:buSzPts val="1800"/>
            </a:pPr>
            <a:endParaRPr lang="en-US" sz="240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571500" lvl="1">
              <a:lnSpc>
                <a:spcPct val="115000"/>
              </a:lnSpc>
              <a:buClr>
                <a:srgbClr val="434343"/>
              </a:buClr>
              <a:buSzPts val="1800"/>
            </a:pPr>
            <a:r>
              <a:rPr lang="en-US" sz="1800" b="1" i="0" u="none" strike="noStrike" cap="none" dirty="0">
                <a:solidFill>
                  <a:srgbClr val="434343"/>
                </a:solidFill>
                <a:latin typeface="Felix Titling" panose="04060505060202020A04" pitchFamily="82" charset="0"/>
                <a:ea typeface="Google Sans"/>
                <a:cs typeface="Google Sans"/>
                <a:sym typeface="Google Sans"/>
              </a:rPr>
              <a:t>B. How does it solve the problem?</a:t>
            </a:r>
          </a:p>
          <a:p>
            <a:pPr marL="914400" lvl="1" indent="-342900">
              <a:lnSpc>
                <a:spcPct val="115000"/>
              </a:lnSpc>
              <a:buClr>
                <a:srgbClr val="434343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Helps users verify links before clicking.</a:t>
            </a:r>
          </a:p>
          <a:p>
            <a:pPr marL="914400" lvl="1" indent="-342900">
              <a:lnSpc>
                <a:spcPct val="115000"/>
              </a:lnSpc>
              <a:buClr>
                <a:srgbClr val="434343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000" i="0" u="none" strike="noStrike" cap="none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Uses AI to explain risk</a:t>
            </a:r>
            <a:r>
              <a:rPr lang="en-IN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s clearly.</a:t>
            </a:r>
          </a:p>
          <a:p>
            <a:pPr marL="914400" lvl="1" indent="-342900">
              <a:lnSpc>
                <a:spcPct val="115000"/>
              </a:lnSpc>
              <a:buClr>
                <a:srgbClr val="434343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Covers URLs, Messages, and Emails in one platform.</a:t>
            </a:r>
          </a:p>
          <a:p>
            <a:pPr marL="571500" lvl="1">
              <a:lnSpc>
                <a:spcPct val="115000"/>
              </a:lnSpc>
              <a:buClr>
                <a:srgbClr val="434343"/>
              </a:buClr>
              <a:buSzPts val="1800"/>
            </a:pPr>
            <a:endParaRPr lang="en-US" sz="2000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marL="571500" lvl="1">
              <a:lnSpc>
                <a:spcPct val="115000"/>
              </a:lnSpc>
              <a:buClr>
                <a:srgbClr val="434343"/>
              </a:buClr>
              <a:buSzPts val="1800"/>
            </a:pPr>
            <a:r>
              <a:rPr lang="en-US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“We target the moment of doubt, when users are unsure whe</a:t>
            </a:r>
            <a:r>
              <a:rPr lang="en-US" sz="18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ther to click.”</a:t>
            </a:r>
            <a:endParaRPr lang="en-US"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9" name="Google Shape;119;p28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/>
        </p:nvSpPr>
        <p:spPr>
          <a:xfrm>
            <a:off x="288540" y="560068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 b="1" i="0" u="sng" strike="noStrike" cap="none" dirty="0">
                <a:solidFill>
                  <a:srgbClr val="434343"/>
                </a:solidFill>
                <a:latin typeface="Felix Titling" panose="04060505060202020A04" pitchFamily="82" charset="0"/>
                <a:ea typeface="Google Sans"/>
                <a:cs typeface="Google Sans"/>
                <a:sym typeface="Google Sans"/>
              </a:rPr>
              <a:t>List of features offered by our solution</a:t>
            </a:r>
            <a:endParaRPr sz="2000" b="1" i="0" u="sng" strike="noStrike" cap="none" dirty="0">
              <a:solidFill>
                <a:srgbClr val="434343"/>
              </a:solidFill>
              <a:latin typeface="Felix Titling" panose="04060505060202020A04" pitchFamily="82" charset="0"/>
              <a:ea typeface="Google Sans"/>
              <a:cs typeface="Google Sans"/>
              <a:sym typeface="Google Sans"/>
            </a:endParaRPr>
          </a:p>
        </p:txBody>
      </p:sp>
      <p:pic>
        <p:nvPicPr>
          <p:cNvPr id="125" name="Google Shape;125;p29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B87937-D2C8-24E0-8986-F333FC16BDBD}"/>
              </a:ext>
            </a:extLst>
          </p:cNvPr>
          <p:cNvSpPr txBox="1"/>
          <p:nvPr/>
        </p:nvSpPr>
        <p:spPr>
          <a:xfrm>
            <a:off x="288540" y="1109968"/>
            <a:ext cx="844131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gency FB" panose="020B0503020202020204" pitchFamily="34" charset="0"/>
              </a:rPr>
              <a:t>URL risk analysis with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gency FB" panose="020B0503020202020204" pitchFamily="34" charset="0"/>
              </a:rPr>
              <a:t>Message phishing detection</a:t>
            </a:r>
          </a:p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gency FB" panose="020B0503020202020204" pitchFamily="34" charset="0"/>
              </a:rPr>
              <a:t>Email scam analysis</a:t>
            </a:r>
          </a:p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gency FB" panose="020B0503020202020204" pitchFamily="34" charset="0"/>
              </a:rPr>
              <a:t>Al-based explanation in simple language</a:t>
            </a:r>
          </a:p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gency FB" panose="020B0503020202020204" pitchFamily="34" charset="0"/>
              </a:rPr>
              <a:t>Categorization of risk (Low / Medium / High)</a:t>
            </a:r>
          </a:p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gency FB" panose="020B0503020202020204" pitchFamily="34" charset="0"/>
              </a:rPr>
              <a:t>Safety recommendations for users</a:t>
            </a:r>
          </a:p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gency FB" panose="020B0503020202020204" pitchFamily="34" charset="0"/>
              </a:rPr>
              <a:t>Fake domain and look-alike brand detection</a:t>
            </a:r>
          </a:p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gency FB" panose="020B0503020202020204" pitchFamily="34" charset="0"/>
              </a:rPr>
              <a:t>Shortened URL expansion and checking</a:t>
            </a:r>
          </a:p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gency FB" panose="020B0503020202020204" pitchFamily="34" charset="0"/>
              </a:rPr>
              <a:t>Urgency and emotional trigger detection</a:t>
            </a:r>
          </a:p>
          <a:p>
            <a:pPr marL="285750" lvl="7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gency FB" panose="020B0503020202020204" pitchFamily="34" charset="0"/>
              </a:rPr>
              <a:t>Scam category identification (banking, prize, account warning)</a:t>
            </a:r>
          </a:p>
          <a:p>
            <a:pPr marL="285750" lvl="7" indent="-285750">
              <a:buFont typeface="Arial" panose="020B0604020202020204" pitchFamily="34" charset="0"/>
              <a:buChar char="•"/>
            </a:pPr>
            <a:endParaRPr lang="en-US" sz="2000" dirty="0">
              <a:latin typeface="Agency FB" panose="020B0503020202020204" pitchFamily="34" charset="0"/>
            </a:endParaRPr>
          </a:p>
          <a:p>
            <a:pPr lvl="7"/>
            <a:r>
              <a:rPr lang="en-US" sz="1800" b="1" dirty="0">
                <a:latin typeface="Google Sans"/>
              </a:rPr>
              <a:t>                        “Our key feature is explainability, not just detection”</a:t>
            </a:r>
            <a:endParaRPr lang="en-IN" sz="1800" b="1" dirty="0">
              <a:latin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180336" y="250800"/>
            <a:ext cx="8783327" cy="4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800" b="1" dirty="0">
                <a:solidFill>
                  <a:srgbClr val="434343"/>
                </a:solidFill>
                <a:latin typeface="Bahnschrift Light" panose="020B0502040204020203" pitchFamily="34" charset="0"/>
                <a:ea typeface="Google Sans"/>
                <a:cs typeface="Google Sans"/>
                <a:sym typeface="Google Sans"/>
              </a:rPr>
              <a:t>  </a:t>
            </a:r>
            <a:r>
              <a:rPr lang="en-GB" sz="2800" b="1" u="sng" dirty="0">
                <a:solidFill>
                  <a:srgbClr val="434343"/>
                </a:solidFill>
                <a:latin typeface="Bahnschrift Light" panose="020B0502040204020203" pitchFamily="34" charset="0"/>
                <a:ea typeface="Google Sans"/>
                <a:cs typeface="Google Sans"/>
                <a:sym typeface="Google Sans"/>
              </a:rPr>
              <a:t>Google </a:t>
            </a:r>
            <a:r>
              <a:rPr lang="en-GB" sz="2800" b="1" i="0" u="sng" strike="noStrike" cap="none" dirty="0">
                <a:solidFill>
                  <a:srgbClr val="434343"/>
                </a:solidFill>
                <a:latin typeface="Bahnschrift Light" panose="020B0502040204020203" pitchFamily="34" charset="0"/>
                <a:ea typeface="Google Sans"/>
                <a:cs typeface="Google Sans"/>
                <a:sym typeface="Google Sans"/>
              </a:rPr>
              <a:t>Technologies used in the solution:</a:t>
            </a:r>
          </a:p>
          <a:p>
            <a:pPr marL="342900" lvl="0" indent="-342900">
              <a:buSzPts val="1800"/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Google Chrome - Development, Debugging, Deployment and testing.</a:t>
            </a:r>
          </a:p>
          <a:p>
            <a:pPr marL="342900" lvl="0" indent="-342900">
              <a:buSzPts val="1800"/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Chrome </a:t>
            </a:r>
            <a:r>
              <a:rPr lang="en-GB" sz="2000" dirty="0" err="1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DevTools</a:t>
            </a:r>
            <a:r>
              <a:rPr lang="en-GB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 - Performance and network analysis.</a:t>
            </a:r>
          </a:p>
          <a:p>
            <a:pPr marL="342900" lvl="0" indent="-342900">
              <a:buSzPts val="1800"/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Google Slides - Documentation and presentation.</a:t>
            </a:r>
          </a:p>
          <a:p>
            <a:pPr marL="342900" lvl="0" indent="-342900">
              <a:buSzPts val="1800"/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Google Developer Community (GDG) - Mentorship, best practices, and innovation guidance.</a:t>
            </a:r>
          </a:p>
          <a:p>
            <a:pPr marL="342900" lvl="0" indent="-342900">
              <a:buSzPts val="1800"/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Firebase- Website creation.</a:t>
            </a:r>
          </a:p>
          <a:p>
            <a:pPr marL="342900" lvl="0" indent="-342900">
              <a:buSzPts val="1800"/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Google AI Studio- API keys.</a:t>
            </a:r>
          </a:p>
          <a:p>
            <a:pPr marL="342900" lvl="0" indent="-342900">
              <a:buSzPts val="1800"/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Gemini- Integrated in website for our Aegis AI.</a:t>
            </a:r>
          </a:p>
          <a:p>
            <a:pPr marL="342900" lvl="0" indent="-342900">
              <a:buSzPts val="1800"/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Vercel</a:t>
            </a:r>
            <a:r>
              <a:rPr lang="en-GB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- For Web-development.</a:t>
            </a:r>
          </a:p>
          <a:p>
            <a:pPr lvl="0">
              <a:buSzPts val="1800"/>
            </a:pPr>
            <a:r>
              <a:rPr lang="en-GB" sz="2400" b="1" i="0" strike="noStrike" cap="none" dirty="0">
                <a:solidFill>
                  <a:srgbClr val="434343"/>
                </a:solidFill>
                <a:latin typeface="Bahnschrift Light" panose="020B0502040204020203" pitchFamily="34" charset="0"/>
                <a:ea typeface="Google Sans"/>
                <a:cs typeface="Google Sans"/>
                <a:sym typeface="Google Sans"/>
              </a:rPr>
              <a:t>  </a:t>
            </a:r>
            <a:r>
              <a:rPr lang="en-GB" sz="2400" b="1" i="0" u="sng" strike="noStrike" cap="none" dirty="0">
                <a:solidFill>
                  <a:srgbClr val="434343"/>
                </a:solidFill>
                <a:latin typeface="Bahnschrift Light" panose="020B0502040204020203" pitchFamily="34" charset="0"/>
                <a:ea typeface="Google Sans"/>
                <a:cs typeface="Google Sans"/>
                <a:sym typeface="Google Sans"/>
              </a:rPr>
              <a:t>AI </a:t>
            </a:r>
            <a:r>
              <a:rPr lang="en-GB" sz="2400" b="1" u="sng" dirty="0">
                <a:solidFill>
                  <a:srgbClr val="434343"/>
                </a:solidFill>
                <a:latin typeface="Bahnschrift Light" panose="020B0502040204020203" pitchFamily="34" charset="0"/>
                <a:ea typeface="Google Sans"/>
                <a:cs typeface="Google Sans"/>
                <a:sym typeface="Google Sans"/>
              </a:rPr>
              <a:t>Integration:</a:t>
            </a:r>
          </a:p>
          <a:p>
            <a:pPr marL="342900" lvl="0" indent="-342900"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Pre-trained Al model via API</a:t>
            </a:r>
          </a:p>
          <a:p>
            <a:pPr marL="342900" lvl="0" indent="-342900"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Used for phishing explanation and risk interpretation</a:t>
            </a:r>
          </a:p>
          <a:p>
            <a:pPr marL="342900" lvl="0" indent="-342900"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Converts technical risk into human-readable insights</a:t>
            </a:r>
          </a:p>
          <a:p>
            <a:pPr marL="342900" lvl="0" indent="-342900">
              <a:buSzPts val="1800"/>
              <a:buFont typeface="Arial" panose="020B0604020202020204" pitchFamily="34" charset="0"/>
              <a:buChar char="•"/>
            </a:pPr>
            <a:endParaRPr lang="en-GB" sz="2000" i="0" u="none" strike="noStrike" cap="none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                        “Our project is compatible with Google’s ecosystem.”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1" name="Google Shape;131;p30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36" y="0"/>
            <a:ext cx="1721039" cy="390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/>
        </p:nvSpPr>
        <p:spPr>
          <a:xfrm>
            <a:off x="3104090" y="-5015"/>
            <a:ext cx="2935819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2800" b="1" i="0" u="sng" strike="noStrike" cap="none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Use-case diagram</a:t>
            </a:r>
            <a:endParaRPr sz="2800" b="1" i="0" u="sng" strike="noStrike" cap="none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</p:txBody>
      </p:sp>
      <p:pic>
        <p:nvPicPr>
          <p:cNvPr id="137" name="Google Shape;137;p31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00" y="102736"/>
            <a:ext cx="1826526" cy="32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5C2B69-6BE3-3C25-6405-8EAF1E216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475" y="537910"/>
            <a:ext cx="5896118" cy="27174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E8B391-49E7-CA3B-3F9E-A9B77DC98A4F}"/>
              </a:ext>
            </a:extLst>
          </p:cNvPr>
          <p:cNvSpPr txBox="1"/>
          <p:nvPr/>
        </p:nvSpPr>
        <p:spPr>
          <a:xfrm>
            <a:off x="1420475" y="2389599"/>
            <a:ext cx="677941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Agency FB" panose="020B0503020202020204" pitchFamily="34" charset="0"/>
              </a:rPr>
              <a:t>User opens SafeClick-AI website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Agency FB" panose="020B0503020202020204" pitchFamily="34" charset="0"/>
              </a:rPr>
              <a:t>User pastes URL/Message/Email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Agency FB" panose="020B0503020202020204" pitchFamily="34" charset="0"/>
              </a:rPr>
              <a:t>Frontend sends data to backend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Agency FB" panose="020B0503020202020204" pitchFamily="34" charset="0"/>
              </a:rPr>
              <a:t>Backend performs rule-based checks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Agency FB" panose="020B0503020202020204" pitchFamily="34" charset="0"/>
              </a:rPr>
              <a:t>AI generates explanation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Agency FB" panose="020B0503020202020204" pitchFamily="34" charset="0"/>
              </a:rPr>
              <a:t>Risk score and explanation shown to user</a:t>
            </a:r>
          </a:p>
          <a:p>
            <a:endParaRPr lang="en-IN" sz="2000" dirty="0">
              <a:latin typeface="Agency FB" panose="020B0503020202020204" pitchFamily="34" charset="0"/>
            </a:endParaRPr>
          </a:p>
          <a:p>
            <a:r>
              <a:rPr lang="en-IN" sz="1800" dirty="0">
                <a:latin typeface="+mn-lt"/>
              </a:rPr>
              <a:t>            “</a:t>
            </a:r>
            <a:r>
              <a:rPr lang="en-IN" sz="1800" b="1" dirty="0">
                <a:latin typeface="Google Sans"/>
              </a:rPr>
              <a:t>The entire process is simple and user-friendly.”</a:t>
            </a:r>
            <a:endParaRPr lang="en-IN" sz="1800" dirty="0"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/>
        </p:nvSpPr>
        <p:spPr>
          <a:xfrm>
            <a:off x="139932" y="501599"/>
            <a:ext cx="8844268" cy="4577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US" sz="2800" b="1" u="sng" dirty="0">
                <a:solidFill>
                  <a:srgbClr val="434343"/>
                </a:solidFill>
                <a:latin typeface="Bahnschrift Light" panose="020B0502040204020203" pitchFamily="34" charset="0"/>
                <a:ea typeface="Google Sans"/>
                <a:cs typeface="Google Sans"/>
                <a:sym typeface="Google Sans"/>
              </a:rPr>
              <a:t>Wireframe Description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The homepage displays the project name </a:t>
            </a:r>
            <a:r>
              <a:rPr lang="en-US" sz="1600" dirty="0" err="1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SafeClick</a:t>
            </a: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-AI with a short tagline.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The main screen contains three tabs:</a:t>
            </a:r>
          </a:p>
          <a:p>
            <a:pPr lvl="0">
              <a:buSzPts val="1800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              URL Analysis</a:t>
            </a:r>
          </a:p>
          <a:p>
            <a:pPr lvl="0">
              <a:buSzPts val="1800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              Message Analysis</a:t>
            </a:r>
          </a:p>
          <a:p>
            <a:pPr lvl="0">
              <a:buSzPts val="1800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              Email Analysis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Each tab opens a single input area where users can paste:</a:t>
            </a:r>
          </a:p>
          <a:p>
            <a:pPr lvl="0">
              <a:buSzPts val="1800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              A suspicious URL</a:t>
            </a:r>
          </a:p>
          <a:p>
            <a:pPr lvl="0">
              <a:buSzPts val="1800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              A message text</a:t>
            </a:r>
          </a:p>
          <a:p>
            <a:pPr lvl="0">
              <a:buSzPts val="1800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             Or email content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Below the input area, an Analyze button is provided for submitting the data.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After analysis, a result section appears showing:</a:t>
            </a:r>
          </a:p>
          <a:p>
            <a:pPr lvl="0">
              <a:buSzPts val="1800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             Risk Level (Low / Medium / High)</a:t>
            </a:r>
          </a:p>
          <a:p>
            <a:pPr lvl="0">
              <a:buSzPts val="1800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            AI-generated explanation in simple language</a:t>
            </a:r>
          </a:p>
          <a:p>
            <a:pPr lvl="0">
              <a:buSzPts val="1800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            Safety advice for the user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The layout is kept clean, minimal, and user-friendly to ensure ease of use for non-technical users.</a:t>
            </a:r>
          </a:p>
          <a:p>
            <a:pPr lvl="0">
              <a:buSzPts val="1800"/>
            </a:pPr>
            <a:r>
              <a:rPr lang="en-US" sz="160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                                            “</a:t>
            </a:r>
            <a:r>
              <a:rPr lang="en-US" sz="16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W</a:t>
            </a:r>
            <a:r>
              <a:rPr lang="en-US" sz="16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e separated UI, Logic, and AI clearly.”</a:t>
            </a:r>
            <a:endParaRPr sz="160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3" name="Google Shape;143;p32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D5ADD9-2B02-CDD6-1CE2-38CB975F9BC5}"/>
              </a:ext>
            </a:extLst>
          </p:cNvPr>
          <p:cNvSpPr txBox="1"/>
          <p:nvPr/>
        </p:nvSpPr>
        <p:spPr>
          <a:xfrm>
            <a:off x="285750" y="1316322"/>
            <a:ext cx="8701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/>
          <p:nvPr/>
        </p:nvSpPr>
        <p:spPr>
          <a:xfrm>
            <a:off x="117709" y="216856"/>
            <a:ext cx="8820900" cy="46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US" sz="2400" b="1" u="sng" dirty="0">
                <a:solidFill>
                  <a:srgbClr val="434343"/>
                </a:solidFill>
                <a:latin typeface="Bahnschrift Light" panose="020B0502040204020203" pitchFamily="34" charset="0"/>
                <a:ea typeface="Google Sans"/>
                <a:cs typeface="Google Sans"/>
                <a:sym typeface="Google Sans"/>
              </a:rPr>
              <a:t>Architecture</a:t>
            </a:r>
          </a:p>
          <a:p>
            <a:pPr lvl="0">
              <a:buSzPts val="1800"/>
            </a:pPr>
            <a:r>
              <a:rPr lang="en-US" b="1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User Layer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Users interact with </a:t>
            </a:r>
            <a:r>
              <a:rPr lang="en-US" dirty="0" err="1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SafeClick</a:t>
            </a: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-AI through a web browser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Supports analysis of URLs, messages, and emails</a:t>
            </a:r>
          </a:p>
          <a:p>
            <a:pPr lvl="0">
              <a:buSzPts val="1800"/>
            </a:pPr>
            <a:r>
              <a:rPr lang="en-US" b="1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Frontend Layer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Built using HTML, CSS, and JavaScript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Collects user input and displays results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Sends analysis requests to the backend</a:t>
            </a:r>
          </a:p>
          <a:p>
            <a:pPr lvl="0">
              <a:buSzPts val="1800"/>
            </a:pPr>
            <a:r>
              <a:rPr lang="en-US" b="1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Backend Layer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Developed using Python and Flask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Handles request routing and validation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Performs rule-based risk analysis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Prepares structured input for AI processing</a:t>
            </a:r>
          </a:p>
          <a:p>
            <a:pPr lvl="0">
              <a:buSzPts val="1800"/>
            </a:pPr>
            <a:r>
              <a:rPr lang="en-US" b="1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AI Processing Layer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Uses a pre-trained AI model via Google Gemini API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Generates human-readable explanations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Interprets phishing and scam patterns</a:t>
            </a:r>
          </a:p>
          <a:p>
            <a:pPr lvl="0">
              <a:buSzPts val="1800"/>
            </a:pPr>
            <a:r>
              <a:rPr lang="en-US" b="1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Response Layer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Backend combines rule-based score and AI explanation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Final risk level and safety advice sent to frontend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Results displayed clearly to the user</a:t>
            </a:r>
            <a:endParaRPr i="0" u="none" strike="noStrike" cap="none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</p:txBody>
      </p:sp>
      <p:pic>
        <p:nvPicPr>
          <p:cNvPr id="149" name="Google Shape;149;p33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4"/>
          <p:cNvSpPr txBox="1"/>
          <p:nvPr/>
        </p:nvSpPr>
        <p:spPr>
          <a:xfrm>
            <a:off x="2837145" y="69413"/>
            <a:ext cx="3901858" cy="60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2800" b="1" i="0" u="none" strike="noStrike" cap="none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MVP Snapshots</a:t>
            </a:r>
            <a:endParaRPr sz="2800" b="1" i="0" u="none" strike="noStrike" cap="none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</p:txBody>
      </p:sp>
      <p:pic>
        <p:nvPicPr>
          <p:cNvPr id="155" name="Google Shape;155;p34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378FCF-11E4-4F23-2219-E18CAE1A08E9}"/>
              </a:ext>
            </a:extLst>
          </p:cNvPr>
          <p:cNvSpPr txBox="1"/>
          <p:nvPr/>
        </p:nvSpPr>
        <p:spPr>
          <a:xfrm>
            <a:off x="52859" y="670916"/>
            <a:ext cx="26574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Bahnschrift Light" panose="020B0502040204020203" pitchFamily="34" charset="0"/>
              </a:rPr>
              <a:t>URL Analysis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Risk score shown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Scam classification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Rule-based fallback visible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5CCAAA-A09C-9E30-9039-DD4569A253EC}"/>
              </a:ext>
            </a:extLst>
          </p:cNvPr>
          <p:cNvSpPr txBox="1"/>
          <p:nvPr/>
        </p:nvSpPr>
        <p:spPr>
          <a:xfrm>
            <a:off x="2887511" y="674191"/>
            <a:ext cx="26574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Bahnschrift Light" panose="020B0502040204020203" pitchFamily="34" charset="0"/>
              </a:rPr>
              <a:t>Message Analysis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Smishing keyword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AI </a:t>
            </a:r>
            <a:r>
              <a:rPr lang="en-IN" sz="1600" dirty="0" err="1">
                <a:latin typeface="Agency FB" panose="020B0503020202020204" pitchFamily="34" charset="0"/>
              </a:rPr>
              <a:t>Explaination</a:t>
            </a:r>
            <a:endParaRPr lang="en-IN" sz="1600" dirty="0">
              <a:latin typeface="Agency FB" panose="020B0503020202020204" pitchFamily="34" charset="0"/>
            </a:endParaRPr>
          </a:p>
          <a:p>
            <a:pPr algn="ctr"/>
            <a:r>
              <a:rPr lang="en-IN" sz="1600" dirty="0">
                <a:latin typeface="Agency FB" panose="020B0503020202020204" pitchFamily="34" charset="0"/>
              </a:rPr>
              <a:t>  provided</a:t>
            </a:r>
            <a:r>
              <a:rPr lang="en-IN" dirty="0">
                <a:latin typeface="Agency FB" panose="020B0503020202020204" pitchFamily="34" charset="0"/>
              </a:rPr>
              <a:t>                  </a:t>
            </a:r>
          </a:p>
          <a:p>
            <a:pPr algn="ctr"/>
            <a:r>
              <a:rPr lang="en-IN" dirty="0"/>
              <a:t>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9B651F-F8B5-4FAE-DF12-7E84B86B786A}"/>
              </a:ext>
            </a:extLst>
          </p:cNvPr>
          <p:cNvSpPr txBox="1"/>
          <p:nvPr/>
        </p:nvSpPr>
        <p:spPr>
          <a:xfrm>
            <a:off x="5750722" y="670916"/>
            <a:ext cx="319325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Bahnschrift Light" panose="020B0502040204020203" pitchFamily="34" charset="0"/>
              </a:rPr>
              <a:t>Email Analysis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Phishing indicator highlighted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Safety recommendation provided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78494ED-D185-83BB-7FF9-9900E7A0C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4" y="1810012"/>
            <a:ext cx="2657471" cy="32029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C7398B5-B900-719D-49B0-8FEAF9954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741" y="1810011"/>
            <a:ext cx="2797493" cy="320290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C8AB87-2821-F6F3-398F-FEF4680953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6260" y="1810011"/>
            <a:ext cx="2723555" cy="32029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45" y="16694"/>
            <a:ext cx="1826526" cy="3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7972B9-1713-E84E-53CF-6A8A7100C789}"/>
              </a:ext>
            </a:extLst>
          </p:cNvPr>
          <p:cNvSpPr txBox="1"/>
          <p:nvPr/>
        </p:nvSpPr>
        <p:spPr>
          <a:xfrm>
            <a:off x="-43430" y="394571"/>
            <a:ext cx="267430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Bahnschrift Light" panose="020B0502040204020203" pitchFamily="34" charset="0"/>
              </a:rPr>
              <a:t>User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Secure login interface to ensure authorization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Protects analysis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Establishes trust within the platform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EC17A-5582-7CA2-5B66-9ED12040F667}"/>
              </a:ext>
            </a:extLst>
          </p:cNvPr>
          <p:cNvSpPr txBox="1"/>
          <p:nvPr/>
        </p:nvSpPr>
        <p:spPr>
          <a:xfrm>
            <a:off x="2713652" y="162312"/>
            <a:ext cx="267430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Bahnschrift Light" panose="020B0502040204020203" pitchFamily="34" charset="0"/>
              </a:rPr>
              <a:t>Risk Classification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Generates a risk score after analysis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Classifies content as Safe/Suspicious/Scam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08EEB-0BB1-CEEA-242C-17214F921BB2}"/>
              </a:ext>
            </a:extLst>
          </p:cNvPr>
          <p:cNvSpPr txBox="1"/>
          <p:nvPr/>
        </p:nvSpPr>
        <p:spPr>
          <a:xfrm>
            <a:off x="6087650" y="68367"/>
            <a:ext cx="278077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latin typeface="Bahnschrift Light" panose="020B0502040204020203" pitchFamily="34" charset="0"/>
              </a:rPr>
              <a:t>AI-Based Recommendation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AI provides human-readable </a:t>
            </a:r>
            <a:r>
              <a:rPr lang="en-IN" sz="1600" dirty="0" err="1">
                <a:latin typeface="Agency FB" panose="020B0503020202020204" pitchFamily="34" charset="0"/>
              </a:rPr>
              <a:t>explainations</a:t>
            </a:r>
            <a:endParaRPr lang="en-IN" sz="1600" dirty="0">
              <a:latin typeface="Agency FB" panose="020B0503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>
                <a:latin typeface="Agency FB" panose="020B0503020202020204" pitchFamily="34" charset="0"/>
              </a:rPr>
              <a:t>Highlights why the content may be phishing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EF36AF-C1DF-9C8E-F75B-EA31FD523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" y="1971075"/>
            <a:ext cx="2627751" cy="31557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CD1A24-540B-0519-986F-C3F80B363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3652" y="1516176"/>
            <a:ext cx="2949376" cy="36106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1A92E7-D867-05D7-9666-369944997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5803" y="1661794"/>
            <a:ext cx="3362097" cy="34650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5"/>
          <p:cNvSpPr txBox="1"/>
          <p:nvPr/>
        </p:nvSpPr>
        <p:spPr>
          <a:xfrm>
            <a:off x="109950" y="781900"/>
            <a:ext cx="8894100" cy="396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800"/>
            </a:pPr>
            <a:r>
              <a:rPr lang="en-IN" sz="2400" b="1" u="sng" dirty="0">
                <a:solidFill>
                  <a:srgbClr val="434343"/>
                </a:solidFill>
                <a:latin typeface="Felix Titling" panose="04060505060202020A04" pitchFamily="82" charset="0"/>
                <a:ea typeface="Google Sans"/>
                <a:cs typeface="Google Sans"/>
                <a:sym typeface="Google Sans"/>
              </a:rPr>
              <a:t>Future Enhancements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Browser extension for one-click analysis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Mobile app integration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WhatsApp / email plugin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Multi-language support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Advanced AI risk classification</a:t>
            </a:r>
          </a:p>
          <a:p>
            <a:pPr lvl="0">
              <a:buSzPts val="1800"/>
            </a:pPr>
            <a:endParaRPr lang="en-IN" sz="1800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lvl="0">
              <a:buSzPts val="1800"/>
            </a:pPr>
            <a:r>
              <a:rPr lang="en-IN" sz="2400" b="1" u="sng" dirty="0">
                <a:solidFill>
                  <a:srgbClr val="434343"/>
                </a:solidFill>
                <a:latin typeface="Felix Titling" panose="04060505060202020A04" pitchFamily="82" charset="0"/>
                <a:ea typeface="Google Sans"/>
                <a:cs typeface="Google Sans"/>
                <a:sym typeface="Google Sans"/>
              </a:rPr>
              <a:t>Impact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Improved cyber awareness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Reduced phishing incidents</a:t>
            </a:r>
          </a:p>
          <a:p>
            <a:pPr marL="285750" lvl="0" indent="-285750"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Safer digital </a:t>
            </a:r>
            <a:r>
              <a:rPr lang="en-IN" sz="1800" dirty="0" err="1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behavior</a:t>
            </a:r>
            <a:endParaRPr lang="en-IN" sz="1800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lvl="0">
              <a:buSzPts val="1800"/>
            </a:pPr>
            <a:endParaRPr lang="en-IN" sz="1800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lvl="0">
              <a:buSzPts val="1800"/>
            </a:pPr>
            <a:r>
              <a:rPr lang="en-IN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                         “This project can grow into real-world cybersecurity tool”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1" name="Google Shape;161;p35" title="Group 220018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/>
        </p:nvSpPr>
        <p:spPr>
          <a:xfrm>
            <a:off x="146600" y="843000"/>
            <a:ext cx="8833200" cy="478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2400" i="0" u="sng" strike="noStrike" cap="none" dirty="0">
                <a:solidFill>
                  <a:srgbClr val="434343"/>
                </a:solidFill>
                <a:latin typeface="Bahnschrift Condensed" panose="020B0502040204020203" pitchFamily="34" charset="0"/>
                <a:ea typeface="Google Sans"/>
                <a:cs typeface="Google Sans"/>
                <a:sym typeface="Google Sans"/>
              </a:rPr>
              <a:t>Links provided: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GitHub Public </a:t>
            </a:r>
            <a:r>
              <a:rPr lang="en-GB" sz="1800" b="1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Repository: </a:t>
            </a:r>
            <a:r>
              <a:rPr lang="en-GB" sz="1800" b="1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  <a:hlinkClick r:id="rId3"/>
              </a:rPr>
              <a:t>https://github.com/iqlas13/SafeClick-AI</a:t>
            </a:r>
            <a:endParaRPr lang="en-GB" sz="1800" b="1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marL="457200" lvl="0" indent="-342900">
              <a:buClr>
                <a:srgbClr val="434343"/>
              </a:buClr>
              <a:buSzPts val="1800"/>
              <a:buFont typeface="Google Sans"/>
              <a:buAutoNum type="arabicPeriod"/>
            </a:pPr>
            <a:endParaRPr sz="1800" b="1" i="0" u="none" strike="noStrike" cap="none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marL="457200" lvl="0" indent="-342900"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Demo Video Link (3 Minutes): </a:t>
            </a:r>
            <a:r>
              <a:rPr lang="en-GB" sz="1800" b="1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  <a:hlinkClick r:id="rId4"/>
              </a:rPr>
              <a:t>https://drive.google.com/file/d/1Hzus_GYYDMvEz_rO25cbpmwRozYXEzhT/view?usp=drivesdk</a:t>
            </a:r>
            <a:endParaRPr lang="en-GB" sz="1800" b="1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marL="457200" lvl="0" indent="-342900">
              <a:buClr>
                <a:srgbClr val="434343"/>
              </a:buClr>
              <a:buSzPts val="1800"/>
              <a:buFont typeface="Google Sans"/>
              <a:buAutoNum type="arabicPeriod"/>
            </a:pPr>
            <a:endParaRPr sz="1800" b="1" i="0" u="none" strike="noStrike" cap="none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GB" sz="1800" b="1" i="0" u="none" strike="noStrike" cap="none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</a:rPr>
              <a:t>MVP Link: </a:t>
            </a:r>
            <a:r>
              <a:rPr lang="en-GB" sz="1800" b="1" i="0" u="none" strike="noStrike" cap="none" dirty="0">
                <a:solidFill>
                  <a:srgbClr val="434343"/>
                </a:solidFill>
                <a:latin typeface="Agency FB" panose="020B0503020202020204" pitchFamily="34" charset="0"/>
                <a:ea typeface="Google Sans"/>
                <a:cs typeface="Google Sans"/>
                <a:sym typeface="Google Sans"/>
                <a:hlinkClick r:id="rId5"/>
              </a:rPr>
              <a:t>https://safeclick-ftmmzvm16-iqlas-projects-b67f9d28.vercel.app/</a:t>
            </a:r>
            <a:endParaRPr lang="en-GB" sz="1800" b="1" i="0" u="none" strike="noStrike" cap="none" dirty="0">
              <a:solidFill>
                <a:srgbClr val="434343"/>
              </a:solidFill>
              <a:latin typeface="Agency FB" panose="020B0503020202020204" pitchFamily="34" charset="0"/>
              <a:ea typeface="Google Sans"/>
              <a:cs typeface="Google Sans"/>
              <a:sym typeface="Google Sans"/>
            </a:endParaRPr>
          </a:p>
        </p:txBody>
      </p:sp>
      <p:pic>
        <p:nvPicPr>
          <p:cNvPr id="167" name="Google Shape;167;p36" title="Group 220018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78" name="Google Shape;178;p3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79" name="Google Shape;179;p38" title="tq slide techspri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8"/>
          <p:cNvSpPr txBox="1"/>
          <p:nvPr/>
        </p:nvSpPr>
        <p:spPr>
          <a:xfrm>
            <a:off x="343275" y="3962950"/>
            <a:ext cx="37128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9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Thank you!</a:t>
            </a:r>
            <a:endParaRPr sz="45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973</Words>
  <Application>Microsoft Office PowerPoint</Application>
  <PresentationFormat>On-screen Show (16:9)</PresentationFormat>
  <Paragraphs>157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Agency FB</vt:lpstr>
      <vt:lpstr>Arial</vt:lpstr>
      <vt:lpstr>Bahnschrift Condensed</vt:lpstr>
      <vt:lpstr>Bahnschrift Light</vt:lpstr>
      <vt:lpstr>Eras Bold ITC</vt:lpstr>
      <vt:lpstr>Felix Titling</vt:lpstr>
      <vt:lpstr>Google Sans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rosha</dc:creator>
  <cp:lastModifiedBy>afnanshariff517@gmail.com</cp:lastModifiedBy>
  <cp:revision>20</cp:revision>
  <dcterms:modified xsi:type="dcterms:W3CDTF">2026-01-04T14:54:47Z</dcterms:modified>
</cp:coreProperties>
</file>